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8" r:id="rId2"/>
    <p:sldId id="261" r:id="rId3"/>
    <p:sldId id="270" r:id="rId4"/>
    <p:sldId id="277" r:id="rId5"/>
    <p:sldId id="278" r:id="rId6"/>
    <p:sldId id="284" r:id="rId7"/>
    <p:sldId id="275" r:id="rId8"/>
    <p:sldId id="268" r:id="rId9"/>
    <p:sldId id="260" r:id="rId10"/>
    <p:sldId id="283" r:id="rId11"/>
    <p:sldId id="259" r:id="rId12"/>
    <p:sldId id="264" r:id="rId13"/>
    <p:sldId id="281" r:id="rId14"/>
    <p:sldId id="262" r:id="rId15"/>
    <p:sldId id="266" r:id="rId16"/>
    <p:sldId id="265" r:id="rId17"/>
    <p:sldId id="282" r:id="rId18"/>
    <p:sldId id="313" r:id="rId19"/>
    <p:sldId id="31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446"/>
    <a:srgbClr val="F78125"/>
    <a:srgbClr val="30302E"/>
    <a:srgbClr val="017CD2"/>
    <a:srgbClr val="F44D24"/>
    <a:srgbClr val="F1F1F1"/>
    <a:srgbClr val="A2EEFD"/>
    <a:srgbClr val="FFFFFF"/>
    <a:srgbClr val="232323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41" autoAdjust="0"/>
    <p:restoredTop sz="94374" autoAdjust="0"/>
  </p:normalViewPr>
  <p:slideViewPr>
    <p:cSldViewPr snapToGrid="0">
      <p:cViewPr>
        <p:scale>
          <a:sx n="100" d="100"/>
          <a:sy n="100" d="100"/>
        </p:scale>
        <p:origin x="72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29FD-B8E9-4211-9118-75F55A1D8A03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502AC-23D2-49A3-8E1B-E621B3C9E9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78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Vantagem: Utilizar uma mesma linguagem para front-</a:t>
            </a:r>
            <a:r>
              <a:rPr lang="pt-BR" dirty="0" err="1"/>
              <a:t>end</a:t>
            </a:r>
            <a:r>
              <a:rPr lang="pt-BR" dirty="0"/>
              <a:t> e </a:t>
            </a:r>
            <a:r>
              <a:rPr lang="pt-BR" dirty="0" err="1"/>
              <a:t>back</a:t>
            </a:r>
            <a:r>
              <a:rPr lang="pt-BR" dirty="0"/>
              <a:t>-end.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597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Javascript </a:t>
            </a:r>
            <a:r>
              <a:rPr lang="pt-BR" b="0" i="0" dirty="0">
                <a:solidFill>
                  <a:srgbClr val="040C28"/>
                </a:solidFill>
                <a:effectLst/>
                <a:latin typeface="Google Sans"/>
              </a:rPr>
              <a:t>surgiu em 1995 e foi criada por Brendan Eich, a pedido da empresa Netscape (um dos primeiros navegadores) com o objetivo de validar formulários HTML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. Como os browsers ainda eram estéticos, essa linguagem foi revolucionária para a época.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757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problemas com a patente do nome da linguagem e para padronização da linguagem.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537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7F62-1A22-8B8F-8F9F-E00657D7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869715-5E51-6406-C69D-9D98DF967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25F319-9A64-3A24-5837-DAC1EBEA5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D2A21A-9F62-0619-8C27-35C0CA2F5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464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jQuery</a:t>
            </a:r>
            <a:r>
              <a:rPr lang="pt-BR" dirty="0"/>
              <a:t> – Conjunto de Bibliotecas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Angular – Google</a:t>
            </a:r>
          </a:p>
          <a:p>
            <a:r>
              <a:rPr lang="pt-BR" dirty="0" err="1"/>
              <a:t>React</a:t>
            </a:r>
            <a:r>
              <a:rPr lang="pt-BR" dirty="0"/>
              <a:t> – Facebook / </a:t>
            </a:r>
            <a:r>
              <a:rPr lang="pt-BR" dirty="0" err="1"/>
              <a:t>Native</a:t>
            </a:r>
            <a:r>
              <a:rPr lang="pt-BR" dirty="0"/>
              <a:t> - Mobile</a:t>
            </a:r>
          </a:p>
          <a:p>
            <a:r>
              <a:rPr lang="pt-BR" dirty="0"/>
              <a:t>Elektron – </a:t>
            </a:r>
            <a:r>
              <a:rPr lang="pt-BR" dirty="0" err="1"/>
              <a:t>Github</a:t>
            </a:r>
            <a:r>
              <a:rPr lang="pt-BR" dirty="0"/>
              <a:t> – (</a:t>
            </a:r>
            <a:r>
              <a:rPr lang="pt-BR" dirty="0" err="1"/>
              <a:t>VsCode</a:t>
            </a:r>
            <a:r>
              <a:rPr lang="pt-BR" dirty="0"/>
              <a:t>, </a:t>
            </a:r>
            <a:r>
              <a:rPr lang="pt-BR" dirty="0" err="1"/>
              <a:t>Whatsapp</a:t>
            </a:r>
            <a:r>
              <a:rPr lang="pt-BR" dirty="0"/>
              <a:t>, </a:t>
            </a:r>
            <a:r>
              <a:rPr lang="pt-BR" dirty="0" err="1"/>
              <a:t>Discord</a:t>
            </a:r>
            <a:r>
              <a:rPr lang="pt-BR" dirty="0"/>
              <a:t>)</a:t>
            </a:r>
          </a:p>
          <a:p>
            <a:r>
              <a:rPr lang="pt-BR" dirty="0" err="1"/>
              <a:t>Cordova</a:t>
            </a:r>
            <a:r>
              <a:rPr lang="pt-BR" dirty="0"/>
              <a:t> – dispositivos móveis</a:t>
            </a:r>
          </a:p>
          <a:p>
            <a:r>
              <a:rPr lang="pt-BR" dirty="0"/>
              <a:t>Vue.js – Framework para interfaces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84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Svelte</a:t>
            </a:r>
            <a:r>
              <a:rPr lang="pt-BR" dirty="0"/>
              <a:t>, </a:t>
            </a:r>
            <a:r>
              <a:rPr lang="pt-BR" dirty="0" err="1"/>
              <a:t>Nuxt</a:t>
            </a:r>
            <a:r>
              <a:rPr lang="pt-BR" dirty="0"/>
              <a:t>, Astro– Front-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781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3648-E121-9597-4E30-366506ED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1AD11D-2F20-59C9-91F4-77758D0CF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561EE5-5BFB-9AB7-7D66-CA99CED2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3F3282-E033-4F92-A67E-C0BACDADB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502AC-23D2-49A3-8E1B-E621B3C9E92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719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A0A5-A5ED-DA48-5400-F6BD7B44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BEFF24-703A-C7F5-498D-452184BC6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B0AC39-842F-F822-19D6-0DE446C41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47824-48C5-B564-9043-48318137A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502AC-23D2-49A3-8E1B-E621B3C9E92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6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3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59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18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49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05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87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28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2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43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6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07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hyperlink" Target="https://www.ecma-international.org/publications-and-standards/standards/ecma-262/" TargetMode="External"/><Relationship Id="rId4" Type="http://schemas.openxmlformats.org/officeDocument/2006/relationships/hyperlink" Target="https://developer.mozilla.org/pt-BR/docs/Web/JavaScrip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051768A4-F8D3-6A6A-F999-FAEB3BC2FC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556878" y="4483100"/>
            <a:ext cx="2543137" cy="206793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3376D9-23DA-B3F6-F3B3-46C949980DDE}"/>
              </a:ext>
            </a:extLst>
          </p:cNvPr>
          <p:cNvSpPr txBox="1"/>
          <p:nvPr/>
        </p:nvSpPr>
        <p:spPr>
          <a:xfrm>
            <a:off x="6096000" y="414691"/>
            <a:ext cx="5594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Introdução a </a:t>
            </a:r>
          </a:p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disciplina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77AFE6C8-98DD-1CB7-A976-DD80271E700D}"/>
              </a:ext>
            </a:extLst>
          </p:cNvPr>
          <p:cNvSpPr txBox="1"/>
          <p:nvPr/>
        </p:nvSpPr>
        <p:spPr>
          <a:xfrm>
            <a:off x="833064" y="199247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232323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232323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1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47B8D8-2DE4-B209-7173-DDF29BBBD576}"/>
              </a:ext>
            </a:extLst>
          </p:cNvPr>
          <p:cNvSpPr txBox="1"/>
          <p:nvPr/>
        </p:nvSpPr>
        <p:spPr>
          <a:xfrm>
            <a:off x="388646" y="1814357"/>
            <a:ext cx="499173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latin typeface="Montserrat" panose="00000500000000000000" pitchFamily="2" charset="0"/>
              </a:rPr>
              <a:t>Juntamente com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HTML</a:t>
            </a:r>
            <a:r>
              <a:rPr lang="pt-BR" sz="2200" dirty="0">
                <a:latin typeface="Montserrat" panose="00000500000000000000" pitchFamily="2" charset="0"/>
              </a:rPr>
              <a:t> e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CSS</a:t>
            </a:r>
            <a:r>
              <a:rPr lang="pt-BR" sz="2200" dirty="0">
                <a:latin typeface="Montserrat" panose="00000500000000000000" pitchFamily="2" charset="0"/>
              </a:rPr>
              <a:t>, o 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200" dirty="0">
                <a:latin typeface="Montserrat" panose="00000500000000000000" pitchFamily="2" charset="0"/>
              </a:rPr>
              <a:t> é uma das três principais tecnologias da </a:t>
            </a:r>
            <a:r>
              <a:rPr lang="pt-BR" sz="2200" i="1" dirty="0">
                <a:latin typeface="Montserrat" panose="00000500000000000000" pitchFamily="2" charset="0"/>
              </a:rPr>
              <a:t>Web</a:t>
            </a:r>
            <a:r>
              <a:rPr lang="pt-BR" sz="2200" dirty="0">
                <a:latin typeface="Montserrat" panose="00000500000000000000" pitchFamily="2" charset="0"/>
              </a:rPr>
              <a:t>.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dirty="0">
                <a:latin typeface="Montserrat" panose="00000500000000000000" pitchFamily="2" charset="0"/>
              </a:rPr>
              <a:t>É atualmente a principal linguagem para programação 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client-side</a:t>
            </a:r>
            <a:r>
              <a:rPr lang="pt-BR" sz="2200" dirty="0">
                <a:latin typeface="Montserrat" panose="00000500000000000000" pitchFamily="2" charset="0"/>
              </a:rPr>
              <a:t> em navegadores web.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dirty="0">
                <a:latin typeface="Montserrat" panose="00000500000000000000" pitchFamily="2" charset="0"/>
              </a:rPr>
              <a:t>E é também bastante utilizada para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server-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side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 </a:t>
            </a:r>
            <a:r>
              <a:rPr lang="pt-BR" sz="2200" dirty="0">
                <a:latin typeface="Montserrat" panose="00000500000000000000" pitchFamily="2" charset="0"/>
              </a:rPr>
              <a:t>através de ambientes como o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Node.js</a:t>
            </a:r>
            <a:r>
              <a:rPr lang="pt-BR" sz="22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0F1A6-0609-BBD5-BA17-FE61D1E87B2E}"/>
              </a:ext>
            </a:extLst>
          </p:cNvPr>
          <p:cNvSpPr txBox="1"/>
          <p:nvPr/>
        </p:nvSpPr>
        <p:spPr>
          <a:xfrm>
            <a:off x="388646" y="353070"/>
            <a:ext cx="937550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400">
              <a:defRPr/>
            </a:pPr>
            <a:r>
              <a:rPr lang="pt-BR" sz="3200" b="1" dirty="0">
                <a:solidFill>
                  <a:srgbClr val="EDD446"/>
                </a:solidFill>
                <a:latin typeface="Montserrat"/>
              </a:rPr>
              <a:t>Desenvolvimento Web </a:t>
            </a:r>
            <a:endParaRPr lang="pt-BR" sz="3200" b="1" dirty="0">
              <a:solidFill>
                <a:srgbClr val="FFFFFF"/>
              </a:solidFill>
              <a:latin typeface="Montserrat"/>
            </a:endParaRPr>
          </a:p>
          <a:p>
            <a:pPr lvl="0" defTabSz="914400">
              <a:defRPr/>
            </a:pPr>
            <a:r>
              <a:rPr lang="pt-BR" sz="3200" b="1" dirty="0">
                <a:solidFill>
                  <a:srgbClr val="EDD446"/>
                </a:solidFill>
                <a:latin typeface="Montserrat"/>
              </a:rPr>
              <a:t>com Javascript</a:t>
            </a:r>
            <a:endParaRPr lang="pt-BR" sz="3200" b="1" dirty="0">
              <a:latin typeface="Montserrat"/>
            </a:endParaRPr>
          </a:p>
        </p:txBody>
      </p:sp>
      <p:pic>
        <p:nvPicPr>
          <p:cNvPr id="1028" name="Picture 4" descr="Versões do Node.JS que a Brasil Cloud oferta - Brasil Cloud Nuvem  Corporativa">
            <a:extLst>
              <a:ext uri="{FF2B5EF4-FFF2-40B4-BE49-F238E27FC236}">
                <a16:creationId xmlns:a16="http://schemas.microsoft.com/office/drawing/2014/main" id="{0E8C1424-1EC5-3FAF-58F6-D4C6A8E06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43" y="2299351"/>
            <a:ext cx="4002329" cy="2399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638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415033"/>
            <a:ext cx="9789161" cy="4462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Tipos de Funções</a:t>
            </a:r>
            <a:endParaRPr lang="pt-BR" sz="2400" b="1" dirty="0">
              <a:solidFill>
                <a:srgbClr val="EDD446"/>
              </a:solidFill>
              <a:latin typeface="Montserrat" panose="00000500000000000000" pitchFamily="2" charset="0"/>
            </a:endParaRPr>
          </a:p>
          <a:p>
            <a:r>
              <a:rPr lang="pt-BR" sz="1600" dirty="0">
                <a:latin typeface="Montserrat"/>
              </a:rPr>
              <a:t>Tipos de variáveis, </a:t>
            </a:r>
            <a:r>
              <a:rPr lang="pt-BR" sz="1600" dirty="0" err="1">
                <a:latin typeface="Montserrat"/>
              </a:rPr>
              <a:t>Template</a:t>
            </a:r>
            <a:r>
              <a:rPr lang="pt-BR" sz="1600" dirty="0">
                <a:latin typeface="Montserrat"/>
              </a:rPr>
              <a:t> </a:t>
            </a:r>
            <a:r>
              <a:rPr lang="pt-BR" sz="1600" dirty="0" err="1">
                <a:latin typeface="Montserrat"/>
              </a:rPr>
              <a:t>Strings</a:t>
            </a:r>
            <a:r>
              <a:rPr lang="pt-BR" sz="1600" dirty="0">
                <a:latin typeface="Montserrat"/>
              </a:rPr>
              <a:t>, tipos de funções: simples, com parâmetros, </a:t>
            </a:r>
            <a:r>
              <a:rPr lang="pt-BR" sz="1600" dirty="0" err="1">
                <a:latin typeface="Montserrat"/>
              </a:rPr>
              <a:t>arrow</a:t>
            </a:r>
            <a:r>
              <a:rPr lang="pt-BR" sz="1600" dirty="0">
                <a:latin typeface="Montserrat"/>
              </a:rPr>
              <a:t> </a:t>
            </a:r>
            <a:r>
              <a:rPr lang="pt-BR" sz="1600" dirty="0" err="1">
                <a:latin typeface="Montserrat"/>
              </a:rPr>
              <a:t>functions</a:t>
            </a:r>
            <a:r>
              <a:rPr lang="pt-BR" sz="1600" dirty="0">
                <a:latin typeface="Montserrat"/>
              </a:rPr>
              <a:t>, funções anônimas e funções imediatas. </a:t>
            </a: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Arrays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e Objetos</a:t>
            </a:r>
          </a:p>
          <a:p>
            <a:r>
              <a:rPr lang="pt-BR" sz="1600" dirty="0">
                <a:latin typeface="Montserrat"/>
              </a:rPr>
              <a:t>Manipulação de vetores e objetos, loops, </a:t>
            </a:r>
            <a:r>
              <a:rPr lang="pt-BR" sz="1600" dirty="0" err="1">
                <a:latin typeface="Montserrat"/>
              </a:rPr>
              <a:t>forEach</a:t>
            </a:r>
            <a:r>
              <a:rPr lang="pt-BR" sz="1600" dirty="0">
                <a:latin typeface="Montserrat"/>
              </a:rPr>
              <a:t>, </a:t>
            </a:r>
            <a:r>
              <a:rPr lang="pt-BR" sz="1600" dirty="0" err="1">
                <a:latin typeface="Montserrat"/>
              </a:rPr>
              <a:t>array</a:t>
            </a:r>
            <a:r>
              <a:rPr lang="pt-BR" sz="1600" dirty="0">
                <a:latin typeface="Montserrat"/>
              </a:rPr>
              <a:t> de objetos.</a:t>
            </a:r>
          </a:p>
          <a:p>
            <a:endParaRPr lang="pt-BR" sz="1600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Classes</a:t>
            </a:r>
          </a:p>
          <a:p>
            <a:r>
              <a:rPr lang="pt-BR" sz="1600" dirty="0">
                <a:latin typeface="Montserrat"/>
              </a:rPr>
              <a:t>Criação e manipulação de classes, atributos e métodos.</a:t>
            </a:r>
            <a:br>
              <a:rPr lang="pt-BR" sz="1600" dirty="0">
                <a:latin typeface="Montserrat"/>
              </a:rPr>
            </a:br>
            <a:endParaRPr lang="pt-BR" sz="1600" dirty="0">
              <a:latin typeface="Montserrat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-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Document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Object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Model</a:t>
            </a:r>
            <a:endParaRPr lang="pt-BR" sz="2400" dirty="0">
              <a:latin typeface="Montserrat"/>
            </a:endParaRPr>
          </a:p>
          <a:p>
            <a:r>
              <a:rPr lang="pt-BR" sz="1600" dirty="0">
                <a:latin typeface="Montserrat"/>
              </a:rPr>
              <a:t>Árvore DOM, eventos, manipulação do DOM.</a:t>
            </a: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- Data e Moeda</a:t>
            </a:r>
            <a:endParaRPr lang="en-US" sz="2400" dirty="0">
              <a:latin typeface="Montserrat"/>
            </a:endParaRPr>
          </a:p>
          <a:p>
            <a:r>
              <a:rPr lang="pt-BR" sz="1600" dirty="0">
                <a:latin typeface="Montserrat"/>
              </a:rPr>
              <a:t>Manipulação de data, formatação de números, funções de moedas, formatações de </a:t>
            </a:r>
            <a:r>
              <a:rPr lang="pt-BR" sz="1600" dirty="0" err="1">
                <a:latin typeface="Montserrat"/>
              </a:rPr>
              <a:t>strings</a:t>
            </a:r>
            <a:r>
              <a:rPr lang="pt-BR" sz="1600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7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570950"/>
            <a:ext cx="9375504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Introdução ao Express.js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Inicialização de um projeto, criação rotas, rotas com parâmetros, parâmetros opcionais.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View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engine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EJS</a:t>
            </a:r>
          </a:p>
          <a:p>
            <a:r>
              <a:rPr lang="pt-BR" sz="2000" dirty="0">
                <a:latin typeface="Montserrat"/>
              </a:rPr>
              <a:t>Renderização de páginas, integração de código </a:t>
            </a:r>
            <a:r>
              <a:rPr lang="pt-BR" sz="2000" dirty="0" err="1">
                <a:latin typeface="Montserrat"/>
              </a:rPr>
              <a:t>Javascrip</a:t>
            </a:r>
            <a:r>
              <a:rPr lang="pt-BR" sz="2000" dirty="0">
                <a:latin typeface="Montserrat"/>
              </a:rPr>
              <a:t> com HTML.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Partials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e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Static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files</a:t>
            </a:r>
          </a:p>
          <a:p>
            <a:r>
              <a:rPr lang="pt-BR" sz="2000" dirty="0">
                <a:latin typeface="Montserrat"/>
              </a:rPr>
              <a:t>Criação de </a:t>
            </a:r>
            <a:r>
              <a:rPr lang="pt-BR" sz="2000" dirty="0" err="1">
                <a:latin typeface="Montserrat"/>
              </a:rPr>
              <a:t>templates</a:t>
            </a:r>
            <a:r>
              <a:rPr lang="pt-BR" sz="2000" dirty="0">
                <a:latin typeface="Montserrat"/>
              </a:rPr>
              <a:t>, importação de arquivos estáticos (folhas de estilo, scripts e imagens), </a:t>
            </a:r>
            <a:r>
              <a:rPr lang="pt-BR" sz="2000" dirty="0" err="1">
                <a:latin typeface="Montserrat"/>
              </a:rPr>
              <a:t>bootstrap</a:t>
            </a:r>
            <a:r>
              <a:rPr lang="pt-BR" sz="2000" dirty="0">
                <a:latin typeface="Montserrat"/>
              </a:rPr>
              <a:t>.</a:t>
            </a:r>
          </a:p>
          <a:p>
            <a:endParaRPr lang="pt-BR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97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606442"/>
            <a:ext cx="9375504" cy="32008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Arquitetura MVC 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Organização do projeto, divisão em camadas: models, </a:t>
            </a:r>
            <a:r>
              <a:rPr lang="pt-BR" sz="2000" dirty="0" err="1">
                <a:latin typeface="Montserrat" panose="00000500000000000000" pitchFamily="2" charset="0"/>
              </a:rPr>
              <a:t>views</a:t>
            </a:r>
            <a:r>
              <a:rPr lang="pt-BR" sz="2000" dirty="0">
                <a:latin typeface="Montserrat" panose="00000500000000000000" pitchFamily="2" charset="0"/>
              </a:rPr>
              <a:t> e </a:t>
            </a:r>
            <a:r>
              <a:rPr lang="pt-BR" sz="2000" dirty="0" err="1">
                <a:latin typeface="Montserrat" panose="00000500000000000000" pitchFamily="2" charset="0"/>
              </a:rPr>
              <a:t>controllers</a:t>
            </a:r>
            <a:r>
              <a:rPr lang="pt-BR" sz="2000" dirty="0">
                <a:latin typeface="Montserrat" panose="00000500000000000000" pitchFamily="2" charset="0"/>
              </a:rPr>
              <a:t>. </a:t>
            </a:r>
            <a:endParaRPr lang="pt-BR" sz="2400" dirty="0">
              <a:latin typeface="Montserrat" panose="00000500000000000000" pitchFamily="2" charset="0"/>
            </a:endParaRP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CRUD com MySQL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Conexão com banco de dados, cadastro, leitura, edição e exclusão de dados.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Segurança, Autenticação e Sessões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Sistema de login: </a:t>
            </a:r>
            <a:r>
              <a:rPr lang="pt-BR" sz="2000" dirty="0" err="1">
                <a:latin typeface="Montserrat" panose="00000500000000000000" pitchFamily="2" charset="0"/>
              </a:rPr>
              <a:t>hash</a:t>
            </a:r>
            <a:r>
              <a:rPr lang="pt-BR" sz="2000" dirty="0">
                <a:latin typeface="Montserrat" panose="00000500000000000000" pitchFamily="2" charset="0"/>
              </a:rPr>
              <a:t> de senhas, criação de sessões e middlewares.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327A3-F26B-3D92-4E40-115276494E0F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</p:spTree>
    <p:extLst>
      <p:ext uri="{BB962C8B-B14F-4D97-AF65-F5344CB8AC3E}">
        <p14:creationId xmlns:p14="http://schemas.microsoft.com/office/powerpoint/2010/main" val="296316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714164"/>
            <a:ext cx="9375504" cy="29854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Flash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messages</a:t>
            </a:r>
            <a:endParaRPr lang="pt-BR" sz="2800" b="1" dirty="0">
              <a:solidFill>
                <a:srgbClr val="EDD446"/>
              </a:solidFill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Validação de formulários e mensagens de feedback para o usuário.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Upload de arquivos</a:t>
            </a:r>
          </a:p>
          <a:p>
            <a:r>
              <a:rPr lang="pt-BR" sz="2000" dirty="0">
                <a:latin typeface="Montserrat"/>
              </a:rPr>
              <a:t>Envio e leitura de arquivos no servidor.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Deploy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 da aplicação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Hospedagem de uma aplicação Node em um VPS.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327A3-F26B-3D92-4E40-115276494E0F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</p:spTree>
    <p:extLst>
      <p:ext uri="{BB962C8B-B14F-4D97-AF65-F5344CB8AC3E}">
        <p14:creationId xmlns:p14="http://schemas.microsoft.com/office/powerpoint/2010/main" val="424868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6508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Métodos de Avaliação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555755"/>
            <a:ext cx="9375504" cy="2902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1 – Exercícios / Atividades</a:t>
            </a:r>
          </a:p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2 - Projeto Integrador (PI)</a:t>
            </a:r>
          </a:p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3 - Avaliação Integradora (AI)</a:t>
            </a:r>
          </a:p>
        </p:txBody>
      </p:sp>
    </p:spTree>
    <p:extLst>
      <p:ext uri="{BB962C8B-B14F-4D97-AF65-F5344CB8AC3E}">
        <p14:creationId xmlns:p14="http://schemas.microsoft.com/office/powerpoint/2010/main" val="134674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Criação do Javascript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39554A-3B5F-D410-A9BC-F1C4914A6CB8}"/>
              </a:ext>
            </a:extLst>
          </p:cNvPr>
          <p:cNvSpPr txBox="1"/>
          <p:nvPr/>
        </p:nvSpPr>
        <p:spPr>
          <a:xfrm>
            <a:off x="597791" y="1715552"/>
            <a:ext cx="5498209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foi em criado em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1995</a:t>
            </a:r>
            <a:r>
              <a:rPr lang="pt-BR" sz="2800" dirty="0">
                <a:latin typeface="Montserrat" panose="00000500000000000000" pitchFamily="2" charset="0"/>
              </a:rPr>
              <a:t> a pedido da empresa Netscape, pelo programador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Brendan Eich </a:t>
            </a:r>
            <a:r>
              <a:rPr lang="pt-BR" sz="2800" dirty="0">
                <a:latin typeface="Montserrat" panose="00000500000000000000" pitchFamily="2" charset="0"/>
              </a:rPr>
              <a:t>e sua padronização deu-se no ano de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1997</a:t>
            </a:r>
            <a:r>
              <a:rPr lang="pt-BR" sz="28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8" name="Imagem 7" descr="Homem de terno e óculos&#10;&#10;Descrição gerada automaticamente">
            <a:extLst>
              <a:ext uri="{FF2B5EF4-FFF2-40B4-BE49-F238E27FC236}">
                <a16:creationId xmlns:a16="http://schemas.microsoft.com/office/drawing/2014/main" id="{C6BC6847-2CE9-C8EE-1D57-C98C3C988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23" y="1925051"/>
            <a:ext cx="3480972" cy="3480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617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ECMA Script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594831" y="1465543"/>
            <a:ext cx="9575431" cy="195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ECMA é uma padronização criada para a linguagem do </a:t>
            </a:r>
            <a:r>
              <a:rPr lang="pt-BR" sz="2800" dirty="0" err="1"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pela empresa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ECMA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International</a:t>
            </a:r>
            <a:r>
              <a:rPr lang="pt-BR" sz="2800" dirty="0">
                <a:latin typeface="Montserrat" panose="00000500000000000000" pitchFamily="2" charset="0"/>
              </a:rPr>
              <a:t> em 1997.</a:t>
            </a:r>
          </a:p>
        </p:txBody>
      </p:sp>
      <p:pic>
        <p:nvPicPr>
          <p:cNvPr id="2052" name="Picture 4" descr="Ext JS &amp; ECMAScript 2015">
            <a:extLst>
              <a:ext uri="{FF2B5EF4-FFF2-40B4-BE49-F238E27FC236}">
                <a16:creationId xmlns:a16="http://schemas.microsoft.com/office/drawing/2014/main" id="{7EFEF779-71D4-42EA-ED86-2C9AA7639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985" y="3429000"/>
            <a:ext cx="5706551" cy="26766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79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C2C4F-FBD0-685D-D3F4-EE2E743A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31B1D41-9223-2D7A-DF8F-1FEF7098F8C3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50A872C9-BCFD-D55C-B220-17B68AB671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F3C774-0A8E-1CDB-6FEE-85AA02A9A511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13C3222-8D89-EA81-6DF2-1608A9B3E64A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DD154E2-DA6F-20BF-D7D2-9928EEF30807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922097-17B4-8875-A042-D65839BE8080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Criação do </a:t>
            </a:r>
            <a:r>
              <a:rPr lang="pt-BR" sz="48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NodeJS</a:t>
            </a:r>
            <a:endParaRPr lang="pt-BR" sz="4800" b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A22A1A-F63C-8D53-F95E-308807986608}"/>
              </a:ext>
            </a:extLst>
          </p:cNvPr>
          <p:cNvSpPr txBox="1"/>
          <p:nvPr/>
        </p:nvSpPr>
        <p:spPr>
          <a:xfrm>
            <a:off x="597791" y="1715552"/>
            <a:ext cx="5643922" cy="422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dirty="0">
                <a:latin typeface="Montserrat" panose="00000500000000000000" pitchFamily="2" charset="0"/>
              </a:rPr>
              <a:t>Criado por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Ryan Dahl </a:t>
            </a:r>
            <a:r>
              <a:rPr lang="pt-BR" sz="2600" dirty="0">
                <a:latin typeface="Montserrat" panose="00000500000000000000" pitchFamily="2" charset="0"/>
              </a:rPr>
              <a:t>em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2009</a:t>
            </a:r>
            <a:r>
              <a:rPr lang="pt-BR" sz="2600" dirty="0">
                <a:latin typeface="Montserrat" panose="00000500000000000000" pitchFamily="2" charset="0"/>
              </a:rPr>
              <a:t> é um software de código aberto, multiplataforma, baseado no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interpretador V8 </a:t>
            </a:r>
            <a:r>
              <a:rPr lang="pt-BR" sz="2600" dirty="0">
                <a:latin typeface="Montserrat" panose="00000500000000000000" pitchFamily="2" charset="0"/>
              </a:rPr>
              <a:t>do </a:t>
            </a:r>
            <a:r>
              <a:rPr lang="pt-BR" sz="2600" dirty="0">
                <a:solidFill>
                  <a:srgbClr val="EDD446"/>
                </a:solidFill>
                <a:latin typeface="Montserrat" panose="00000500000000000000" pitchFamily="2" charset="0"/>
              </a:rPr>
              <a:t>Google</a:t>
            </a:r>
            <a:r>
              <a:rPr lang="pt-BR" sz="2600" dirty="0">
                <a:latin typeface="Montserrat" panose="00000500000000000000" pitchFamily="2" charset="0"/>
              </a:rPr>
              <a:t> e que permite a execução de códigos </a:t>
            </a:r>
            <a:r>
              <a:rPr lang="pt-BR" sz="2600" dirty="0" err="1">
                <a:latin typeface="Montserrat" panose="00000500000000000000" pitchFamily="2" charset="0"/>
              </a:rPr>
              <a:t>JavaScript</a:t>
            </a:r>
            <a:r>
              <a:rPr lang="pt-BR" sz="2600" dirty="0">
                <a:latin typeface="Montserrat" panose="00000500000000000000" pitchFamily="2" charset="0"/>
              </a:rPr>
              <a:t> fora de um navegador web. </a:t>
            </a:r>
          </a:p>
        </p:txBody>
      </p:sp>
      <p:pic>
        <p:nvPicPr>
          <p:cNvPr id="4" name="Picture 2" descr="Ryan Dahl's talks, articles, workshops, certificates - GitNation">
            <a:extLst>
              <a:ext uri="{FF2B5EF4-FFF2-40B4-BE49-F238E27FC236}">
                <a16:creationId xmlns:a16="http://schemas.microsoft.com/office/drawing/2014/main" id="{D23318BD-042D-9F36-9816-CD841E0F3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99" y="1715552"/>
            <a:ext cx="3689224" cy="36892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86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634162" y="356195"/>
            <a:ext cx="9375504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 dirty="0">
                <a:solidFill>
                  <a:srgbClr val="F9DD3E"/>
                </a:solidFill>
                <a:latin typeface="Montserrat" panose="00000500000000000000" pitchFamily="2" charset="0"/>
              </a:rPr>
              <a:t>Empresas que utilizam a linguagem </a:t>
            </a:r>
            <a:r>
              <a:rPr lang="pt-BR" sz="24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JavaScript</a:t>
            </a:r>
            <a:r>
              <a:rPr lang="pt-BR" sz="2400" b="1" dirty="0">
                <a:solidFill>
                  <a:srgbClr val="F9DD3E"/>
                </a:solidFill>
                <a:latin typeface="Montserrat" panose="00000500000000000000" pitchFamily="2" charset="0"/>
              </a:rPr>
              <a:t>:</a:t>
            </a:r>
            <a:endParaRPr lang="pt-BR" sz="2400" i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B3AE6BC-FDDE-D7BB-BB04-DCC1127E439B}"/>
              </a:ext>
            </a:extLst>
          </p:cNvPr>
          <p:cNvGrpSpPr/>
          <p:nvPr/>
        </p:nvGrpSpPr>
        <p:grpSpPr>
          <a:xfrm>
            <a:off x="699251" y="1424769"/>
            <a:ext cx="9565470" cy="4391744"/>
            <a:chOff x="699251" y="827956"/>
            <a:chExt cx="10532907" cy="4950019"/>
          </a:xfrm>
        </p:grpSpPr>
        <p:pic>
          <p:nvPicPr>
            <p:cNvPr id="3074" name="Picture 2" descr="Google Logo – PNG e Vetor – Download de Logo">
              <a:extLst>
                <a:ext uri="{FF2B5EF4-FFF2-40B4-BE49-F238E27FC236}">
                  <a16:creationId xmlns:a16="http://schemas.microsoft.com/office/drawing/2014/main" id="{3DEECA29-3DF9-31F1-CBCF-BCDE1D64C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764" y="1305946"/>
              <a:ext cx="2570536" cy="838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6294419C-B217-03A7-3820-6EC1BABDC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9608" y="827956"/>
              <a:ext cx="3674517" cy="1794752"/>
            </a:xfrm>
            <a:prstGeom prst="rect">
              <a:avLst/>
            </a:prstGeom>
          </p:spPr>
        </p:pic>
        <p:pic>
          <p:nvPicPr>
            <p:cNvPr id="21" name="Imagem 20" descr="Logotipo&#10;&#10;Descrição gerada automaticamente">
              <a:extLst>
                <a:ext uri="{FF2B5EF4-FFF2-40B4-BE49-F238E27FC236}">
                  <a16:creationId xmlns:a16="http://schemas.microsoft.com/office/drawing/2014/main" id="{3B667F88-D096-9F12-9585-F0006374B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3843" y="2434259"/>
              <a:ext cx="3869037" cy="1889761"/>
            </a:xfrm>
            <a:prstGeom prst="rect">
              <a:avLst/>
            </a:prstGeom>
          </p:spPr>
        </p:pic>
        <p:pic>
          <p:nvPicPr>
            <p:cNvPr id="25" name="Imagem 24" descr="Desenho de bandeira&#10;&#10;Descrição gerada automaticamente com confiança baixa">
              <a:extLst>
                <a:ext uri="{FF2B5EF4-FFF2-40B4-BE49-F238E27FC236}">
                  <a16:creationId xmlns:a16="http://schemas.microsoft.com/office/drawing/2014/main" id="{3F601F3E-B088-4127-E5EC-B41969DC4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251" y="2780039"/>
              <a:ext cx="2657323" cy="1297921"/>
            </a:xfrm>
            <a:prstGeom prst="rect">
              <a:avLst/>
            </a:prstGeom>
          </p:spPr>
        </p:pic>
        <p:pic>
          <p:nvPicPr>
            <p:cNvPr id="35" name="Imagem 34" descr="Logotipo&#10;&#10;Descrição gerada automaticamente">
              <a:extLst>
                <a:ext uri="{FF2B5EF4-FFF2-40B4-BE49-F238E27FC236}">
                  <a16:creationId xmlns:a16="http://schemas.microsoft.com/office/drawing/2014/main" id="{4CAC7E10-B967-23CC-288B-C688D85D3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1636" y="867600"/>
              <a:ext cx="3510522" cy="1714651"/>
            </a:xfrm>
            <a:prstGeom prst="rect">
              <a:avLst/>
            </a:prstGeom>
          </p:spPr>
        </p:pic>
        <p:pic>
          <p:nvPicPr>
            <p:cNvPr id="37" name="Imagem 36" descr="Logotipo, nome da empresa&#10;&#10;Descrição gerada automaticamente">
              <a:extLst>
                <a:ext uri="{FF2B5EF4-FFF2-40B4-BE49-F238E27FC236}">
                  <a16:creationId xmlns:a16="http://schemas.microsoft.com/office/drawing/2014/main" id="{96A51AE4-786F-9399-A79D-DFB23518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2811" y="4659031"/>
              <a:ext cx="2290889" cy="1118944"/>
            </a:xfrm>
            <a:prstGeom prst="rect">
              <a:avLst/>
            </a:prstGeom>
          </p:spPr>
        </p:pic>
        <p:pic>
          <p:nvPicPr>
            <p:cNvPr id="39" name="Imagem 38" descr="Desenho com traços pretos em fundo branco e letras pretas&#10;&#10;Descrição gerada automaticamente com confiança baixa">
              <a:extLst>
                <a:ext uri="{FF2B5EF4-FFF2-40B4-BE49-F238E27FC236}">
                  <a16:creationId xmlns:a16="http://schemas.microsoft.com/office/drawing/2014/main" id="{906BE433-9D09-7E5B-9BA2-7EFA180EF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1437" y="2688800"/>
              <a:ext cx="3030919" cy="148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552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Origem do nome </a:t>
            </a:r>
            <a:r>
              <a:rPr lang="pt-BR" sz="48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JavaScript</a:t>
            </a:r>
            <a:endParaRPr lang="pt-BR" sz="4800" b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600983" y="1715552"/>
            <a:ext cx="8731887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teve vários nomes. O primeiro foi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Mocha</a:t>
            </a:r>
            <a:r>
              <a:rPr lang="pt-BR" sz="2800" dirty="0">
                <a:latin typeface="Montserrat" panose="00000500000000000000" pitchFamily="2" charset="0"/>
              </a:rPr>
              <a:t>, o segundo foi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LiveScript</a:t>
            </a:r>
            <a:r>
              <a:rPr lang="pt-BR" sz="2800" dirty="0">
                <a:latin typeface="Montserrat" panose="00000500000000000000" pitchFamily="2" charset="0"/>
              </a:rPr>
              <a:t>, e quando 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Netscape</a:t>
            </a:r>
            <a:r>
              <a:rPr lang="pt-BR" sz="2800" dirty="0">
                <a:latin typeface="Montserrat" panose="00000500000000000000" pitchFamily="2" charset="0"/>
              </a:rPr>
              <a:t> passou a ter suporte à tecnologia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Java</a:t>
            </a:r>
            <a:r>
              <a:rPr lang="pt-BR" sz="2800" dirty="0">
                <a:latin typeface="Montserrat" panose="00000500000000000000" pitchFamily="2" charset="0"/>
              </a:rPr>
              <a:t> em seu navegador, mudou o nome para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, como um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jogo de marketing</a:t>
            </a:r>
            <a:r>
              <a:rPr lang="pt-BR" sz="2800" dirty="0">
                <a:latin typeface="Montserrat" panose="00000500000000000000" pitchFamily="2" charset="0"/>
              </a:rPr>
              <a:t>, para popularizar o script.</a:t>
            </a:r>
          </a:p>
        </p:txBody>
      </p:sp>
    </p:spTree>
    <p:extLst>
      <p:ext uri="{BB962C8B-B14F-4D97-AF65-F5344CB8AC3E}">
        <p14:creationId xmlns:p14="http://schemas.microsoft.com/office/powerpoint/2010/main" val="9640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42664" y="-33222"/>
            <a:ext cx="9375504" cy="11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000" b="1" dirty="0">
                <a:solidFill>
                  <a:srgbClr val="F9DD3E"/>
                </a:solidFill>
                <a:latin typeface="Montserrat" panose="00000500000000000000" pitchFamily="2" charset="0"/>
              </a:rPr>
              <a:t>Bibliotecas / Frameworks</a:t>
            </a:r>
            <a:endParaRPr lang="pt-BR" sz="4000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CA4870D-A4B3-FA34-720C-E54A4BA82FEC}"/>
              </a:ext>
            </a:extLst>
          </p:cNvPr>
          <p:cNvGrpSpPr/>
          <p:nvPr/>
        </p:nvGrpSpPr>
        <p:grpSpPr>
          <a:xfrm>
            <a:off x="-309501" y="1456536"/>
            <a:ext cx="10411833" cy="4613373"/>
            <a:chOff x="-309501" y="1456536"/>
            <a:chExt cx="10411833" cy="4613373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0055781-CF96-ED15-2411-FC72FD58C0D5}"/>
                </a:ext>
              </a:extLst>
            </p:cNvPr>
            <p:cNvSpPr txBox="1"/>
            <p:nvPr/>
          </p:nvSpPr>
          <p:spPr>
            <a:xfrm>
              <a:off x="5850632" y="5731355"/>
              <a:ext cx="7030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/>
                <a:t>Vue.js</a:t>
              </a:r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5F3CFE65-7E8B-3E6B-AD10-E1C6138168DA}"/>
                </a:ext>
              </a:extLst>
            </p:cNvPr>
            <p:cNvGrpSpPr/>
            <p:nvPr/>
          </p:nvGrpSpPr>
          <p:grpSpPr>
            <a:xfrm>
              <a:off x="-309501" y="1456536"/>
              <a:ext cx="10411833" cy="4613373"/>
              <a:chOff x="-309501" y="1456536"/>
              <a:chExt cx="10411833" cy="4613373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3C3BBF61-9C19-CD07-EDA2-7B9A480BE004}"/>
                  </a:ext>
                </a:extLst>
              </p:cNvPr>
              <p:cNvGrpSpPr/>
              <p:nvPr/>
            </p:nvGrpSpPr>
            <p:grpSpPr>
              <a:xfrm>
                <a:off x="-309501" y="1456536"/>
                <a:ext cx="10411833" cy="4613373"/>
                <a:chOff x="-309501" y="1456536"/>
                <a:chExt cx="10411833" cy="4613373"/>
              </a:xfrm>
            </p:grpSpPr>
            <p:pic>
              <p:nvPicPr>
                <p:cNvPr id="1026" name="Picture 2" descr="Vue.js - Wikipedia">
                  <a:extLst>
                    <a:ext uri="{FF2B5EF4-FFF2-40B4-BE49-F238E27FC236}">
                      <a16:creationId xmlns:a16="http://schemas.microsoft.com/office/drawing/2014/main" id="{868F5B99-5566-D904-FAE6-F57004644A4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55644" y="4305834"/>
                  <a:ext cx="1512777" cy="131097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2" name="Agrupar 11">
                  <a:extLst>
                    <a:ext uri="{FF2B5EF4-FFF2-40B4-BE49-F238E27FC236}">
                      <a16:creationId xmlns:a16="http://schemas.microsoft.com/office/drawing/2014/main" id="{CC89FFBD-24F4-EE8C-3CDD-62BEC5EFE0D6}"/>
                    </a:ext>
                  </a:extLst>
                </p:cNvPr>
                <p:cNvGrpSpPr/>
                <p:nvPr/>
              </p:nvGrpSpPr>
              <p:grpSpPr>
                <a:xfrm>
                  <a:off x="-309501" y="1456536"/>
                  <a:ext cx="10411833" cy="4613373"/>
                  <a:chOff x="-309501" y="1456536"/>
                  <a:chExt cx="10411833" cy="4613373"/>
                </a:xfrm>
              </p:grpSpPr>
              <p:grpSp>
                <p:nvGrpSpPr>
                  <p:cNvPr id="9" name="Agrupar 8">
                    <a:extLst>
                      <a:ext uri="{FF2B5EF4-FFF2-40B4-BE49-F238E27FC236}">
                        <a16:creationId xmlns:a16="http://schemas.microsoft.com/office/drawing/2014/main" id="{E4C1A840-3E04-ED66-7DF0-F3B3A2D475FC}"/>
                      </a:ext>
                    </a:extLst>
                  </p:cNvPr>
                  <p:cNvGrpSpPr/>
                  <p:nvPr/>
                </p:nvGrpSpPr>
                <p:grpSpPr>
                  <a:xfrm>
                    <a:off x="-309501" y="1456536"/>
                    <a:ext cx="7450071" cy="4613373"/>
                    <a:chOff x="1267508" y="1533291"/>
                    <a:chExt cx="7450071" cy="4613373"/>
                  </a:xfrm>
                </p:grpSpPr>
                <p:grpSp>
                  <p:nvGrpSpPr>
                    <p:cNvPr id="10" name="Agrupar 9">
                      <a:extLst>
                        <a:ext uri="{FF2B5EF4-FFF2-40B4-BE49-F238E27FC236}">
                          <a16:creationId xmlns:a16="http://schemas.microsoft.com/office/drawing/2014/main" id="{34EEE761-2D9B-4417-A46E-6CC1DC1E49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67508" y="1533291"/>
                      <a:ext cx="7450071" cy="4367571"/>
                      <a:chOff x="474728" y="1672725"/>
                      <a:chExt cx="7450071" cy="4367571"/>
                    </a:xfrm>
                  </p:grpSpPr>
                  <p:pic>
                    <p:nvPicPr>
                      <p:cNvPr id="5" name="Imagem 4" descr="Logotipo&#10;&#10;Descrição gerada automaticamente">
                        <a:extLst>
                          <a:ext uri="{FF2B5EF4-FFF2-40B4-BE49-F238E27FC236}">
                            <a16:creationId xmlns:a16="http://schemas.microsoft.com/office/drawing/2014/main" id="{CEBE626A-8C1F-21BF-089C-F5395799BC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418178" y="1831057"/>
                        <a:ext cx="1828800" cy="18288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Imagem 6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95AC6A9-03EB-7021-D3BB-288D5F8067A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757089" y="1814357"/>
                        <a:ext cx="1828800" cy="18288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28" name="Picture 4" descr="Logo Electron – Logos PNG">
                        <a:extLst>
                          <a:ext uri="{FF2B5EF4-FFF2-40B4-BE49-F238E27FC236}">
                            <a16:creationId xmlns:a16="http://schemas.microsoft.com/office/drawing/2014/main" id="{C4B1D4E5-97E4-2329-7B84-36A7F01D7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9" y="1672725"/>
                        <a:ext cx="18288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1032" name="Picture 8" descr="Angular JS full logo transparent PNG - StickPNG">
                        <a:extLst>
                          <a:ext uri="{FF2B5EF4-FFF2-40B4-BE49-F238E27FC236}">
                            <a16:creationId xmlns:a16="http://schemas.microsoft.com/office/drawing/2014/main" id="{DF15DE96-DFC1-8065-E0B3-156B04BC86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3373"/>
                      <a:stretch/>
                    </p:blipFill>
                    <p:spPr bwMode="auto">
                      <a:xfrm>
                        <a:off x="474728" y="4211496"/>
                        <a:ext cx="3573859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1034" name="Picture 10" descr="Artwork - Apache Cordova">
                        <a:extLst>
                          <a:ext uri="{FF2B5EF4-FFF2-40B4-BE49-F238E27FC236}">
                            <a16:creationId xmlns:a16="http://schemas.microsoft.com/office/drawing/2014/main" id="{AEBA4A42-D425-5E5D-3383-BF9DEB52C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840" y="4368884"/>
                        <a:ext cx="1643296" cy="16432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4" name="CaixaDeTexto 3">
                      <a:extLst>
                        <a:ext uri="{FF2B5EF4-FFF2-40B4-BE49-F238E27FC236}">
                          <a16:creationId xmlns:a16="http://schemas.microsoft.com/office/drawing/2014/main" id="{A5E454E6-A152-22B1-1325-E8069EE6BA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55139" y="3209275"/>
                      <a:ext cx="89607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>
                          <a:solidFill>
                            <a:srgbClr val="A2EEFD"/>
                          </a:solidFill>
                        </a:rPr>
                        <a:t>Elektron</a:t>
                      </a:r>
                    </a:p>
                  </p:txBody>
                </p:sp>
                <p:sp>
                  <p:nvSpPr>
                    <p:cNvPr id="6" name="CaixaDeTexto 5">
                      <a:extLst>
                        <a:ext uri="{FF2B5EF4-FFF2-40B4-BE49-F238E27FC236}">
                          <a16:creationId xmlns:a16="http://schemas.microsoft.com/office/drawing/2014/main" id="{9996F8AE-1CE9-4C20-F72D-11A543EA45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7877" y="5808110"/>
                      <a:ext cx="85311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/>
                        <a:t>Angular</a:t>
                      </a:r>
                    </a:p>
                  </p:txBody>
                </p:sp>
                <p:sp>
                  <p:nvSpPr>
                    <p:cNvPr id="8" name="CaixaDeTexto 7">
                      <a:extLst>
                        <a:ext uri="{FF2B5EF4-FFF2-40B4-BE49-F238E27FC236}">
                          <a16:creationId xmlns:a16="http://schemas.microsoft.com/office/drawing/2014/main" id="{19650BF7-A3BE-09E5-BA3E-5E15CFBADF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18313" y="5808110"/>
                      <a:ext cx="8919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 err="1"/>
                        <a:t>Cordova</a:t>
                      </a:r>
                      <a:endParaRPr lang="pt-BR" sz="1600" b="1" dirty="0"/>
                    </a:p>
                  </p:txBody>
                </p:sp>
              </p:grpSp>
              <p:pic>
                <p:nvPicPr>
                  <p:cNvPr id="2052" name="Picture 4" descr="Introduction To Express Framework">
                    <a:extLst>
                      <a:ext uri="{FF2B5EF4-FFF2-40B4-BE49-F238E27FC236}">
                        <a16:creationId xmlns:a16="http://schemas.microsoft.com/office/drawing/2014/main" id="{D5924C1E-02E1-37AB-883F-55CF58F2276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675" t="18120" r="7927" b="11135"/>
                  <a:stretch/>
                </p:blipFill>
                <p:spPr bwMode="auto">
                  <a:xfrm>
                    <a:off x="7650680" y="1957303"/>
                    <a:ext cx="2451652" cy="114242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pic>
            <p:nvPicPr>
              <p:cNvPr id="2054" name="Picture 6" descr="NestJS Pros and Cons from a Solution Architect | Medium">
                <a:extLst>
                  <a:ext uri="{FF2B5EF4-FFF2-40B4-BE49-F238E27FC236}">
                    <a16:creationId xmlns:a16="http://schemas.microsoft.com/office/drawing/2014/main" id="{D0CEB162-565B-8FC0-6315-26C435599A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10" r="21195"/>
              <a:stretch/>
            </p:blipFill>
            <p:spPr bwMode="auto">
              <a:xfrm>
                <a:off x="7990983" y="4127839"/>
                <a:ext cx="1748288" cy="1762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88795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42664" y="-33222"/>
            <a:ext cx="9375504" cy="11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000" b="1" dirty="0">
                <a:solidFill>
                  <a:srgbClr val="F9DD3E"/>
                </a:solidFill>
                <a:latin typeface="Montserrat" panose="00000500000000000000" pitchFamily="2" charset="0"/>
              </a:rPr>
              <a:t>Bibliotecas / Frameworks</a:t>
            </a:r>
            <a:endParaRPr lang="pt-BR" sz="4000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AB0FE44-E36E-DC13-48E1-94D2A29BD3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t="11955" r="3379" b="69425"/>
          <a:stretch/>
        </p:blipFill>
        <p:spPr>
          <a:xfrm>
            <a:off x="5676433" y="1814357"/>
            <a:ext cx="4181074" cy="1909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6E70653-4207-F991-E6A1-37B3C88F3F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69" b="15540"/>
          <a:stretch/>
        </p:blipFill>
        <p:spPr>
          <a:xfrm>
            <a:off x="671440" y="1417509"/>
            <a:ext cx="4422447" cy="476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972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53CC146-361E-2532-C269-05EAE6CD543F}"/>
              </a:ext>
            </a:extLst>
          </p:cNvPr>
          <p:cNvGrpSpPr/>
          <p:nvPr/>
        </p:nvGrpSpPr>
        <p:grpSpPr>
          <a:xfrm>
            <a:off x="1635412" y="769981"/>
            <a:ext cx="6824383" cy="4503475"/>
            <a:chOff x="1635412" y="769981"/>
            <a:chExt cx="6824383" cy="450347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308B9BC5-3ACA-DAB2-640C-8D1F2C45328E}"/>
                </a:ext>
              </a:extLst>
            </p:cNvPr>
            <p:cNvGrpSpPr/>
            <p:nvPr/>
          </p:nvGrpSpPr>
          <p:grpSpPr>
            <a:xfrm>
              <a:off x="1635412" y="769981"/>
              <a:ext cx="6596878" cy="2879590"/>
              <a:chOff x="2120701" y="769981"/>
              <a:chExt cx="6596878" cy="2879590"/>
            </a:xfrm>
          </p:grpSpPr>
          <p:pic>
            <p:nvPicPr>
              <p:cNvPr id="9" name="Imagem 8" descr="Imagem de desenho animado&#10;&#10;Descrição gerada automaticamente com confiança baixa">
                <a:extLst>
                  <a:ext uri="{FF2B5EF4-FFF2-40B4-BE49-F238E27FC236}">
                    <a16:creationId xmlns:a16="http://schemas.microsoft.com/office/drawing/2014/main" id="{093F4B1B-D614-982F-6951-B34409179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0701" y="769981"/>
                <a:ext cx="6596878" cy="2879590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2AD75FF-BB1E-CD85-6A52-F9A54285C3B6}"/>
                  </a:ext>
                </a:extLst>
              </p:cNvPr>
              <p:cNvSpPr txBox="1"/>
              <p:nvPr/>
            </p:nvSpPr>
            <p:spPr>
              <a:xfrm>
                <a:off x="2611942" y="939978"/>
                <a:ext cx="1050469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HTML5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78E7AEB-2E9F-9AFB-E7E4-CCD5FBD99EF2}"/>
                  </a:ext>
                </a:extLst>
              </p:cNvPr>
              <p:cNvSpPr txBox="1"/>
              <p:nvPr/>
            </p:nvSpPr>
            <p:spPr>
              <a:xfrm>
                <a:off x="4942778" y="939978"/>
                <a:ext cx="95272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CSS3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2635AC0-5D96-8EF5-11EF-02E5FBF1DC64}"/>
                  </a:ext>
                </a:extLst>
              </p:cNvPr>
              <p:cNvSpPr txBox="1"/>
              <p:nvPr/>
            </p:nvSpPr>
            <p:spPr>
              <a:xfrm>
                <a:off x="6877750" y="939978"/>
                <a:ext cx="1790401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JavaScript</a:t>
                </a:r>
                <a:endPara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1F1F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BA77D77A-A5E7-D06F-DF46-BC8F498F256A}"/>
                </a:ext>
              </a:extLst>
            </p:cNvPr>
            <p:cNvSpPr txBox="1"/>
            <p:nvPr/>
          </p:nvSpPr>
          <p:spPr>
            <a:xfrm>
              <a:off x="1775288" y="4333457"/>
              <a:ext cx="1853432" cy="625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CONTEÚDO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E17C55D1-1A24-C8D3-9DC9-13E96C7582C1}"/>
                </a:ext>
              </a:extLst>
            </p:cNvPr>
            <p:cNvSpPr txBox="1"/>
            <p:nvPr/>
          </p:nvSpPr>
          <p:spPr>
            <a:xfrm>
              <a:off x="4356542" y="4333457"/>
              <a:ext cx="1154615" cy="625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DESIGN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581C842-7DA0-073A-F352-9E7607F75003}"/>
                </a:ext>
              </a:extLst>
            </p:cNvPr>
            <p:cNvSpPr txBox="1"/>
            <p:nvPr/>
          </p:nvSpPr>
          <p:spPr>
            <a:xfrm>
              <a:off x="6050082" y="4565570"/>
              <a:ext cx="24097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INTERATIVIDADE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 BACK-END</a:t>
              </a:r>
            </a:p>
          </p:txBody>
        </p: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1EDCD507-506A-9F57-678F-617A503D2724}"/>
                </a:ext>
              </a:extLst>
            </p:cNvPr>
            <p:cNvCxnSpPr/>
            <p:nvPr/>
          </p:nvCxnSpPr>
          <p:spPr>
            <a:xfrm>
              <a:off x="2631989" y="3731742"/>
              <a:ext cx="0" cy="688214"/>
            </a:xfrm>
            <a:prstGeom prst="straightConnector1">
              <a:avLst/>
            </a:prstGeom>
            <a:ln w="57150">
              <a:solidFill>
                <a:srgbClr val="F44D2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D0DA47B5-071C-9E6B-CC11-7E6F68FB4BF5}"/>
                </a:ext>
              </a:extLst>
            </p:cNvPr>
            <p:cNvCxnSpPr/>
            <p:nvPr/>
          </p:nvCxnSpPr>
          <p:spPr>
            <a:xfrm>
              <a:off x="4959178" y="3731742"/>
              <a:ext cx="0" cy="688214"/>
            </a:xfrm>
            <a:prstGeom prst="straightConnector1">
              <a:avLst/>
            </a:prstGeom>
            <a:ln w="57150">
              <a:solidFill>
                <a:srgbClr val="017C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B533BEAC-2290-0A10-C50C-0313C25AFF59}"/>
                </a:ext>
              </a:extLst>
            </p:cNvPr>
            <p:cNvCxnSpPr/>
            <p:nvPr/>
          </p:nvCxnSpPr>
          <p:spPr>
            <a:xfrm>
              <a:off x="7224584" y="3731742"/>
              <a:ext cx="0" cy="688214"/>
            </a:xfrm>
            <a:prstGeom prst="straightConnector1">
              <a:avLst/>
            </a:prstGeom>
            <a:ln w="57150">
              <a:solidFill>
                <a:srgbClr val="F7812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26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Guias de referência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600983" y="3122376"/>
            <a:ext cx="87318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EDD446"/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https://developer.mozilla.org/pt-BR/docs/Web/JavaScript</a:t>
            </a:r>
            <a:endParaRPr lang="pt-BR" b="1" dirty="0">
              <a:solidFill>
                <a:srgbClr val="EDD446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5C84D1-0AD7-200D-637B-81BF8E553657}"/>
              </a:ext>
            </a:extLst>
          </p:cNvPr>
          <p:cNvSpPr txBox="1"/>
          <p:nvPr/>
        </p:nvSpPr>
        <p:spPr>
          <a:xfrm>
            <a:off x="600983" y="5353355"/>
            <a:ext cx="11781517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EDD446"/>
                </a:solidFill>
                <a:latin typeface="Montserrat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https://www.ecma-international.org/publications-and-standards/standards/ecma-262/</a:t>
            </a:r>
            <a:endParaRPr lang="pt-BR" sz="1600" b="1" dirty="0">
              <a:solidFill>
                <a:srgbClr val="EDD446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2F38D737-CC04-B53E-02AD-F796E7FBFC6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63" y="1243624"/>
            <a:ext cx="1987550" cy="1987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3D00BA7-2547-95DC-7F7E-F27877A27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67" y="4191760"/>
            <a:ext cx="3313092" cy="89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0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3E28F-4619-129E-D9DE-29814E04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1D182135-5DFA-7E93-8AD4-097F1A53B6B1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AE8D496C-EBC6-BBFA-1167-8DACC2491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AE23E6-26EB-E38E-958D-E792888E6CA5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72A9016-B022-87A6-F51F-2134BE7BBA01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5F98CE7-5463-1439-422E-8E71828953BC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F70AEA-02B4-A22F-B05C-9C8619B52AB2}"/>
              </a:ext>
            </a:extLst>
          </p:cNvPr>
          <p:cNvSpPr txBox="1"/>
          <p:nvPr/>
        </p:nvSpPr>
        <p:spPr>
          <a:xfrm>
            <a:off x="597791" y="6508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Requisitos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6F08DB-2729-0682-6D75-6FCF9A6F6029}"/>
              </a:ext>
            </a:extLst>
          </p:cNvPr>
          <p:cNvSpPr txBox="1"/>
          <p:nvPr/>
        </p:nvSpPr>
        <p:spPr>
          <a:xfrm>
            <a:off x="697755" y="1501037"/>
            <a:ext cx="9375504" cy="4274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1 – Visual Studio </a:t>
            </a:r>
            <a:r>
              <a:rPr lang="pt-BR" sz="2800" b="1" dirty="0" err="1">
                <a:latin typeface="Montserrat" panose="00000500000000000000" pitchFamily="2" charset="0"/>
              </a:rPr>
              <a:t>Code</a:t>
            </a:r>
            <a:endParaRPr lang="pt-BR" sz="2800" b="1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2 – Extensões do VS </a:t>
            </a:r>
            <a:r>
              <a:rPr lang="pt-BR" sz="2800" b="1" dirty="0" err="1">
                <a:latin typeface="Montserrat" panose="00000500000000000000" pitchFamily="2" charset="0"/>
              </a:rPr>
              <a:t>Code</a:t>
            </a:r>
            <a:endParaRPr lang="pt-BR" sz="2800" b="1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3 – Node.js</a:t>
            </a: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4 – MySQL (</a:t>
            </a:r>
            <a:r>
              <a:rPr lang="pt-BR" sz="2800" b="1" dirty="0" err="1">
                <a:latin typeface="Montserrat" panose="00000500000000000000" pitchFamily="2" charset="0"/>
              </a:rPr>
              <a:t>Xampp</a:t>
            </a:r>
            <a:r>
              <a:rPr lang="pt-BR" sz="2800" b="1" dirty="0">
                <a:latin typeface="Montserrat" panose="00000500000000000000" pitchFamily="2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4 – </a:t>
            </a:r>
            <a:r>
              <a:rPr lang="pt-BR" sz="2800" b="1" dirty="0" err="1">
                <a:latin typeface="Montserrat" panose="00000500000000000000" pitchFamily="2" charset="0"/>
              </a:rPr>
              <a:t>HeidiSQL</a:t>
            </a:r>
            <a:r>
              <a:rPr lang="pt-BR" sz="2800" b="1" dirty="0">
                <a:latin typeface="Montserrat" panose="00000500000000000000" pitchFamily="2" charset="0"/>
              </a:rPr>
              <a:t> / Workbench</a:t>
            </a:r>
          </a:p>
        </p:txBody>
      </p:sp>
    </p:spTree>
    <p:extLst>
      <p:ext uri="{BB962C8B-B14F-4D97-AF65-F5344CB8AC3E}">
        <p14:creationId xmlns:p14="http://schemas.microsoft.com/office/powerpoint/2010/main" val="298783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AC49-F241-A190-6E0E-86E9C80C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D4915FE-370F-1A05-9086-972F071F7AC5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2CF28EA8-3DCE-67C7-B0E2-AE82C746F5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56149D5-63EE-BC30-111F-605C84D5F156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DB512D-AF80-2211-A2E1-C3784653C03A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A99F41A-A8EB-3AF5-BC39-7E02E7A6EA52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ED276E-FEDA-1980-18C7-2255C931F2EE}"/>
              </a:ext>
            </a:extLst>
          </p:cNvPr>
          <p:cNvSpPr txBox="1"/>
          <p:nvPr/>
        </p:nvSpPr>
        <p:spPr>
          <a:xfrm>
            <a:off x="470604" y="84844"/>
            <a:ext cx="937550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Comandos Git: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8C5702A-E3F7-8971-4175-417B1651C787}"/>
              </a:ext>
            </a:extLst>
          </p:cNvPr>
          <p:cNvSpPr txBox="1"/>
          <p:nvPr/>
        </p:nvSpPr>
        <p:spPr>
          <a:xfrm>
            <a:off x="470604" y="1340163"/>
            <a:ext cx="9166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add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commit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–m “@seu-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username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push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0DBBAD-10F4-9700-C2A4-CD7F5E896CB9}"/>
              </a:ext>
            </a:extLst>
          </p:cNvPr>
          <p:cNvSpPr txBox="1"/>
          <p:nvPr/>
        </p:nvSpPr>
        <p:spPr>
          <a:xfrm>
            <a:off x="470604" y="2758411"/>
            <a:ext cx="937550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Atalhos úteis: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080A57-2620-3A18-B9F8-80E0891C9732}"/>
              </a:ext>
            </a:extLst>
          </p:cNvPr>
          <p:cNvSpPr txBox="1"/>
          <p:nvPr/>
        </p:nvSpPr>
        <p:spPr>
          <a:xfrm>
            <a:off x="470604" y="4013730"/>
            <a:ext cx="91661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Shift + ALT + F  :  Formatar o código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(necessário instalar o Prettier)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pt-BR" sz="2400" b="1" dirty="0">
                <a:solidFill>
                  <a:prstClr val="white"/>
                </a:solidFill>
                <a:latin typeface="Montserrat" panose="00000500000000000000" pitchFamily="2" charset="0"/>
              </a:rPr>
              <a:t>ALT + ENTER : Envelopamento de tags</a:t>
            </a:r>
          </a:p>
          <a:p>
            <a:r>
              <a:rPr lang="pt-BR" sz="2400" i="1" dirty="0">
                <a:solidFill>
                  <a:prstClr val="white"/>
                </a:solidFill>
                <a:latin typeface="Montserrat" panose="00000500000000000000" pitchFamily="2" charset="0"/>
              </a:rPr>
              <a:t>(necessário configurar o atalho no VS Code)</a:t>
            </a:r>
            <a:endParaRPr kumimoji="0" lang="pt-B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23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744C5-8C74-C7AC-DD2E-36DC78FB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5FA2D54-E014-8540-4F1E-58C44EF27F44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15AED822-8379-886A-3442-E3CE927D5D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244F0F0-0BE4-6CD9-C92A-9F905822E8F6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6FDAAC-C38C-391F-75EA-9ADC2C01AD5D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143AE44-EDC2-8D91-2DB2-C1B0258893CB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378915-E154-D846-04F8-883E309CFE4D}"/>
              </a:ext>
            </a:extLst>
          </p:cNvPr>
          <p:cNvSpPr txBox="1"/>
          <p:nvPr/>
        </p:nvSpPr>
        <p:spPr>
          <a:xfrm>
            <a:off x="0" y="861218"/>
            <a:ext cx="1068333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Exercício de fixação – Aula 01.1: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81DE0AF-8495-FB87-2456-D5D66303B968}"/>
              </a:ext>
            </a:extLst>
          </p:cNvPr>
          <p:cNvSpPr txBox="1"/>
          <p:nvPr/>
        </p:nvSpPr>
        <p:spPr>
          <a:xfrm>
            <a:off x="0" y="2116537"/>
            <a:ext cx="1068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600" b="1" dirty="0">
                <a:solidFill>
                  <a:prstClr val="white"/>
                </a:solidFill>
                <a:latin typeface="Montserrat" panose="00000500000000000000" pitchFamily="2" charset="0"/>
              </a:rPr>
              <a:t>https://forms.office.com/r/a5nnjBfy9G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8EFA95-640B-76ED-CFCF-3C6BA91A633B}"/>
              </a:ext>
            </a:extLst>
          </p:cNvPr>
          <p:cNvSpPr txBox="1"/>
          <p:nvPr/>
        </p:nvSpPr>
        <p:spPr>
          <a:xfrm>
            <a:off x="0" y="3367579"/>
            <a:ext cx="1068333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Envio dos links do </a:t>
            </a:r>
            <a:r>
              <a:rPr kumimoji="0" lang="pt-BR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repo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no Github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C8347E-54F0-CEE4-0321-30A9C5979849}"/>
              </a:ext>
            </a:extLst>
          </p:cNvPr>
          <p:cNvSpPr txBox="1"/>
          <p:nvPr/>
        </p:nvSpPr>
        <p:spPr>
          <a:xfrm>
            <a:off x="0" y="4622898"/>
            <a:ext cx="1068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600" b="1" dirty="0">
                <a:solidFill>
                  <a:prstClr val="white"/>
                </a:solidFill>
                <a:latin typeface="Montserrat" panose="00000500000000000000" pitchFamily="2" charset="0"/>
              </a:rPr>
              <a:t>https://forms.office.com/r/11chxdMjZh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75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051768A4-F8D3-6A6A-F999-FAEB3BC2FC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556878" y="4483100"/>
            <a:ext cx="2543137" cy="206793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3376D9-23DA-B3F6-F3B3-46C949980DDE}"/>
              </a:ext>
            </a:extLst>
          </p:cNvPr>
          <p:cNvSpPr txBox="1"/>
          <p:nvPr/>
        </p:nvSpPr>
        <p:spPr>
          <a:xfrm>
            <a:off x="6096000" y="414691"/>
            <a:ext cx="5594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Introdução a </a:t>
            </a:r>
          </a:p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disciplina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77AFE6C8-98DD-1CB7-A976-DD80271E700D}"/>
              </a:ext>
            </a:extLst>
          </p:cNvPr>
          <p:cNvSpPr txBox="1"/>
          <p:nvPr/>
        </p:nvSpPr>
        <p:spPr>
          <a:xfrm>
            <a:off x="833064" y="199247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232323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232323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677</TotalTime>
  <Words>1189</Words>
  <Application>Microsoft Office PowerPoint</Application>
  <PresentationFormat>Widescreen</PresentationFormat>
  <Paragraphs>175</Paragraphs>
  <Slides>20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Montserrat</vt:lpstr>
      <vt:lpstr>Poppins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DIEGO MAX DA SILVA</dc:creator>
  <cp:lastModifiedBy>Diego Max da Silva</cp:lastModifiedBy>
  <cp:revision>65</cp:revision>
  <dcterms:created xsi:type="dcterms:W3CDTF">2023-05-26T23:31:09Z</dcterms:created>
  <dcterms:modified xsi:type="dcterms:W3CDTF">2026-08-05T23:55:02Z</dcterms:modified>
</cp:coreProperties>
</file>